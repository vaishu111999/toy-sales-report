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media/image1.jpeg" ContentType="image/jpeg"/>
  <Override PartName="/ppt/media/image3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B09079-81B5-4560-BFA2-243DFCF610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19DF86-131A-4C4A-9019-05F86C6FE0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43A99E-88F9-42A5-B48D-85D581E673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00C314-FAE3-4A73-A940-981DDB2AA0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B14C92-8BE2-47E5-BEC1-5DE55B9C3F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2F48A0-EB0E-4FB9-9BD3-8CFC65DE08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EE6669-2561-41BF-99DF-6DF2A7B8E6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3F80D0-2BF9-4A61-81D5-ADD86EF7D9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83DFE4-E4E2-44F9-8B55-ED65C57C00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882F50-7152-4406-AE48-ED5FB6E88CF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F1E784-5CBE-4811-A7A9-053662B0539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6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AC1803-FCB6-4E32-94F6-19DA7A05C07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9B7E1F-6FC8-4F83-931D-5CBA43A34F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5A78A5-BFE7-40B5-8781-E7BC617AC6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442594-BAC3-4936-B44B-5568B98DDA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FD8405-E7D4-40F1-ADBC-9A80AF7304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FF670E-AA2D-4BED-816E-C07F500960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22B7D8-32D0-4221-A78C-AD8AEFF93D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56562C-AA2D-4076-8A18-FC0268B0D1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8B8E2C-FE19-46E1-B573-EB58C2C828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4C5A0F-6CAB-4681-9698-0588AB4E74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F2C492-6C7B-4D77-8966-B1C0E0432E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EAF60D-ECF5-4E14-A17A-5FF9C8B82E1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13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14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EB537A-CDA6-489E-8A98-296E756300E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0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</p:grpSp>
      <p:grpSp>
        <p:nvGrpSpPr>
          <p:cNvPr id="11" name="Group 15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12" name="Freeform 14"/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3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14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1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6640" cy="1645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en-US" sz="5400" spc="-1" strike="noStrike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b="0" lang="en-US" sz="54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Trebuchet MS"/>
              </a:rPr>
              <a:t>&lt;date/time&gt;</a:t>
            </a:r>
            <a:endParaRPr b="0" lang="en-IN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D983014-2A65-4FA4-9DAD-9C17C53FC03B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IN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Click to edit the outline text format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404040"/>
                </a:solidFill>
                <a:latin typeface="Trebuchet MS"/>
              </a:rPr>
              <a:t>Second Outline Level</a:t>
            </a:r>
            <a:endParaRPr b="0" lang="en-US" sz="1400" spc="-1" strike="noStrike">
              <a:solidFill>
                <a:srgbClr val="404040"/>
              </a:solidFill>
              <a:latin typeface="Trebuchet M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Third Outline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Fourth Outline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Fifth Outline Level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Sixth Outline Level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Seventh Outline Level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64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65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66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67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68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69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70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71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72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73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74" name="PlaceHolder 1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Trebuchet MS"/>
              </a:rPr>
              <a:t>&lt;date/time&gt;</a:t>
            </a:r>
            <a:endParaRPr b="0" lang="en-IN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DD7B15-C3BF-46EC-92E7-63FA9D807FA9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IN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Trebuchet MS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Click to edit the outline text format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404040"/>
                </a:solidFill>
                <a:latin typeface="Trebuchet MS"/>
              </a:rPr>
              <a:t>Second Outline Level</a:t>
            </a:r>
            <a:endParaRPr b="0" lang="en-US" sz="1400" spc="-1" strike="noStrike">
              <a:solidFill>
                <a:srgbClr val="404040"/>
              </a:solidFill>
              <a:latin typeface="Trebuchet M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Third Outline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Fourth Outline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Fifth Outline Level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Sixth Outline Level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Seventh Outline Level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4"/>
          <p:cNvSpPr/>
          <p:nvPr/>
        </p:nvSpPr>
        <p:spPr>
          <a:xfrm>
            <a:off x="3764520" y="258840"/>
            <a:ext cx="9513720" cy="34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</a:pPr>
            <a:r>
              <a:rPr b="1" lang="en-IN" sz="3200" spc="-1" strike="noStrike">
                <a:solidFill>
                  <a:srgbClr val="000000"/>
                </a:solidFill>
                <a:latin typeface="Bauhaus 93"/>
              </a:rPr>
              <a:t>Toy Sales Report Dashboard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gency FB"/>
              </a:rPr>
              <a:t>Tools Used: Power BI | SQL | Excel    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gency FB"/>
              </a:rPr>
              <a:t>Your Role: Data Analyst   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gency FB"/>
              </a:rPr>
              <a:t>Duration: Feb 2025 – Mar 2025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IN" sz="2000" spc="-1" strike="noStrike">
                <a:solidFill>
                  <a:srgbClr val="000000"/>
                </a:solidFill>
                <a:latin typeface="Agency FB"/>
              </a:rPr>
              <a:t>Comprehensive analysis of toy store performance, sales, and inventory metrics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5"/>
          <p:cNvSpPr/>
          <p:nvPr/>
        </p:nvSpPr>
        <p:spPr>
          <a:xfrm>
            <a:off x="3765600" y="4563360"/>
            <a:ext cx="95137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Bauhaus 93"/>
              </a:rPr>
              <a:t>PRESENTED BY: VAISHNAVI SWAPNIL RAUT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Picture 1" descr="A group of toys on a wooden floor&#10;&#10;AI-generated content may be incorrect."/>
          <p:cNvPicPr/>
          <p:nvPr/>
        </p:nvPicPr>
        <p:blipFill>
          <a:blip r:embed="rId1"/>
          <a:stretch/>
        </p:blipFill>
        <p:spPr>
          <a:xfrm>
            <a:off x="-3240" y="0"/>
            <a:ext cx="4511520" cy="6870960"/>
          </a:xfrm>
          <a:prstGeom prst="rect">
            <a:avLst/>
          </a:prstGeom>
          <a:ln w="0">
            <a:noFill/>
          </a:ln>
        </p:spPr>
      </p:pic>
    </p:spTree>
  </p:cSld>
  <p:transition spd="slow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2"/>
          <p:cNvSpPr/>
          <p:nvPr/>
        </p:nvSpPr>
        <p:spPr>
          <a:xfrm>
            <a:off x="1298160" y="538560"/>
            <a:ext cx="9313560" cy="55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343080" indent="-343080" algn="ctr">
              <a:lnSpc>
                <a:spcPct val="100000"/>
              </a:lnSpc>
              <a:spcAft>
                <a:spcPts val="1874"/>
              </a:spcAft>
              <a:buClr>
                <a:srgbClr val="000000"/>
              </a:buClr>
              <a:buFont typeface="Wingdings" charset="2"/>
              <a:buChar char=""/>
            </a:pPr>
            <a:r>
              <a:rPr b="1" lang="en-IN" sz="2000" spc="-1" strike="noStrike">
                <a:solidFill>
                  <a:srgbClr val="000000"/>
                </a:solidFill>
                <a:latin typeface="Bauhaus 93"/>
              </a:rPr>
              <a:t>Goal Of Project</a:t>
            </a:r>
            <a:r>
              <a:rPr b="0" lang="en-IN" sz="2000" spc="-1" strike="noStrike">
                <a:solidFill>
                  <a:srgbClr val="000000"/>
                </a:solidFill>
                <a:latin typeface="Times New Roman"/>
              </a:rPr>
              <a:t>: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874"/>
              </a:spcAf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874"/>
              </a:spcAft>
              <a:buClr>
                <a:srgbClr val="000000"/>
              </a:buClr>
              <a:buFont typeface="Courier New"/>
              <a:buChar char="o"/>
            </a:pPr>
            <a:r>
              <a:rPr b="0" lang="en-IN" sz="20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IN" sz="2800" spc="-1" strike="noStrike">
                <a:solidFill>
                  <a:srgbClr val="000000"/>
                </a:solidFill>
                <a:latin typeface="Agency FB"/>
              </a:rPr>
              <a:t>To analyze toy sales data across multiple store locations to uncover sales trends, location-wise performance, product demand, and inventory insights for better business decision-making.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874"/>
              </a:spcAf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Sales Performance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Inventory Management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Business Decision-Making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874"/>
              </a:spcAf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874"/>
              </a:spcAf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874"/>
              </a:spcAf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roup 7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20" name="Straight Connector 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121" name="Straight Connector 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122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23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24" name="Isosceles Triangle 1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25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26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27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28" name="Isosceles Triangle 1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29" name="Isosceles Triangle 17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130" name="TextBox 6"/>
          <p:cNvSpPr/>
          <p:nvPr/>
        </p:nvSpPr>
        <p:spPr>
          <a:xfrm>
            <a:off x="4766760" y="267840"/>
            <a:ext cx="5698800" cy="60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" charset="2"/>
              <a:buChar char=""/>
            </a:pPr>
            <a:r>
              <a:rPr b="1" lang="en-US" sz="1800" spc="-1" strike="noStrike">
                <a:solidFill>
                  <a:srgbClr val="404040"/>
                </a:solidFill>
                <a:latin typeface="Agency FB"/>
              </a:rPr>
              <a:t>The toy retail chain was struggling to track and compare sales performance across multiple store locations.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" charset="2"/>
              <a:buChar char=""/>
            </a:pPr>
            <a:r>
              <a:rPr b="1" lang="en-US" sz="1800" spc="-1" strike="noStrike">
                <a:solidFill>
                  <a:srgbClr val="404040"/>
                </a:solidFill>
                <a:latin typeface="Agency FB"/>
              </a:rPr>
              <a:t>        </a:t>
            </a:r>
            <a:r>
              <a:rPr b="1" lang="en-US" sz="1800" spc="-1" strike="noStrike">
                <a:solidFill>
                  <a:srgbClr val="404040"/>
                </a:solidFill>
                <a:latin typeface="Agency FB"/>
              </a:rPr>
              <a:t>Toy store faced challenges such as: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" charset="2"/>
              <a:buChar char=""/>
            </a:pPr>
            <a:r>
              <a:rPr b="1" lang="en-US" sz="1800" spc="-1" strike="noStrike">
                <a:solidFill>
                  <a:srgbClr val="404040"/>
                </a:solidFill>
                <a:latin typeface="Agency FB"/>
              </a:rPr>
              <a:t>Lack of centralized visibility into sales, profit, and inventory data.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" charset="2"/>
              <a:buChar char=""/>
            </a:pPr>
            <a:r>
              <a:rPr b="1" lang="en-US" sz="1800" spc="-1" strike="noStrike">
                <a:solidFill>
                  <a:srgbClr val="404040"/>
                </a:solidFill>
                <a:latin typeface="Agency FB"/>
              </a:rPr>
              <a:t>Difficulty identifying high- and low-performing stores or products.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" charset="2"/>
              <a:buChar char=""/>
            </a:pPr>
            <a:r>
              <a:rPr b="1" lang="en-US" sz="1800" spc="-1" strike="noStrike">
                <a:solidFill>
                  <a:srgbClr val="404040"/>
                </a:solidFill>
                <a:latin typeface="Agency FB"/>
              </a:rPr>
              <a:t>Inefficient inventory distribution causing overstock or stockouts.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" charset="2"/>
              <a:buChar char=""/>
            </a:pPr>
            <a:r>
              <a:rPr b="1" lang="en-US" sz="1800" spc="-1" strike="noStrike">
                <a:solidFill>
                  <a:srgbClr val="404040"/>
                </a:solidFill>
                <a:latin typeface="Agency FB"/>
              </a:rPr>
              <a:t>Limited insights into location-based and seasonal sales trends.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" charset="2"/>
              <a:buChar char=""/>
            </a:pPr>
            <a:r>
              <a:rPr b="1" lang="en-US" sz="1800" spc="-1" strike="noStrike">
                <a:solidFill>
                  <a:srgbClr val="404040"/>
                </a:solidFill>
                <a:latin typeface="Agency FB"/>
              </a:rPr>
              <a:t>Manual reporting leading to delayed decision-making</a:t>
            </a:r>
            <a:r>
              <a:rPr b="1" lang="en-US" sz="1600" spc="-1" strike="noStrike">
                <a:solidFill>
                  <a:srgbClr val="404040"/>
                </a:solidFill>
                <a:latin typeface="Trebuchet MS"/>
              </a:rPr>
              <a:t>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Picture 1" descr="A group of toys on a wooden floor&#10;&#10;AI-generated content may be incorrect."/>
          <p:cNvPicPr/>
          <p:nvPr/>
        </p:nvPicPr>
        <p:blipFill>
          <a:blip r:embed="rId1"/>
          <a:srcRect l="1280" t="0" r="5610" b="0"/>
          <a:stretch/>
        </p:blipFill>
        <p:spPr>
          <a:xfrm>
            <a:off x="346680" y="405360"/>
            <a:ext cx="3942360" cy="563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2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rebuchet MS"/>
            </a:endParaRPr>
          </a:p>
        </p:txBody>
      </p:sp>
      <p:sp>
        <p:nvSpPr>
          <p:cNvPr id="133" name="Rectangle 23"/>
          <p:cNvSpPr/>
          <p:nvPr/>
        </p:nvSpPr>
        <p:spPr>
          <a:xfrm>
            <a:off x="477000" y="480240"/>
            <a:ext cx="11237760" cy="5897520"/>
          </a:xfrm>
          <a:prstGeom prst="rect">
            <a:avLst/>
          </a:prstGeom>
          <a:solidFill>
            <a:srgbClr val="fcc318"/>
          </a:solidFill>
          <a:ln cap="rnd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rebuchet MS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720000" y="720000"/>
            <a:ext cx="10800000" cy="543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67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36" name="Straight Connector 6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137" name="Straight Connector 6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138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39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40" name="Isosceles Triangle 7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41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42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43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44" name="Isosceles Triangle 7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45" name="Isosceles Triangle 77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146" name="Isosceles Triangle 8"/>
          <p:cNvSpPr/>
          <p:nvPr/>
        </p:nvSpPr>
        <p:spPr>
          <a:xfrm>
            <a:off x="0" y="4013280"/>
            <a:ext cx="476280" cy="284436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Trebuchet MS"/>
            </a:endParaRPr>
          </a:p>
        </p:txBody>
      </p:sp>
      <p:sp>
        <p:nvSpPr>
          <p:cNvPr id="147" name="TextBox 2"/>
          <p:cNvSpPr/>
          <p:nvPr/>
        </p:nvSpPr>
        <p:spPr>
          <a:xfrm>
            <a:off x="572040" y="668160"/>
            <a:ext cx="8703000" cy="49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b="1" lang="en-IN" sz="2000" spc="-1" strike="noStrike">
                <a:solidFill>
                  <a:srgbClr val="000000"/>
                </a:solidFill>
                <a:latin typeface="Agency FB"/>
              </a:rPr>
              <a:t>Strategic Recommendations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-343080">
              <a:lnSpc>
                <a:spcPct val="100000"/>
              </a:lnSpc>
              <a:buClr>
                <a:srgbClr val="000000"/>
              </a:buClr>
              <a:buFont typeface="Trebuchet MS"/>
              <a:buAutoNum type="arabicPeriod"/>
            </a:pPr>
            <a:r>
              <a:rPr b="1" lang="en-IN" sz="2000" spc="-1" strike="noStrike">
                <a:solidFill>
                  <a:srgbClr val="000000"/>
                </a:solidFill>
                <a:latin typeface="Agency FB"/>
              </a:rPr>
              <a:t>Focus on High-Performing Locations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IN" sz="2000" spc="-1" strike="noStrike">
                <a:solidFill>
                  <a:srgbClr val="000000"/>
                </a:solidFill>
                <a:latin typeface="Agency FB"/>
              </a:rPr>
              <a:t>Invest more in marketing and inventory for Downtown and Commercial area stores to maximize revenue potential.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-343080">
              <a:lnSpc>
                <a:spcPct val="100000"/>
              </a:lnSpc>
              <a:buClr>
                <a:srgbClr val="000000"/>
              </a:buClr>
              <a:buFont typeface="Trebuchet MS"/>
              <a:buAutoNum type="arabicPeriod"/>
            </a:pPr>
            <a:r>
              <a:rPr b="1" lang="en-IN" sz="2000" spc="-1" strike="noStrike">
                <a:solidFill>
                  <a:srgbClr val="000000"/>
                </a:solidFill>
                <a:latin typeface="Agency FB"/>
              </a:rPr>
              <a:t>Reevaluate Low-Performing Stores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gency FB"/>
              </a:rPr>
              <a:t>Analyze reasons behind low sales in Residential and Airport areas; consider targeted promotions or store restructuring.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-343080">
              <a:lnSpc>
                <a:spcPct val="100000"/>
              </a:lnSpc>
              <a:buClr>
                <a:srgbClr val="000000"/>
              </a:buClr>
              <a:buFont typeface="Trebuchet MS"/>
              <a:buAutoNum type="arabicPeriod"/>
            </a:pPr>
            <a:r>
              <a:rPr b="1" lang="en-IN" sz="2000" spc="-1" strike="noStrike">
                <a:solidFill>
                  <a:srgbClr val="000000"/>
                </a:solidFill>
                <a:latin typeface="Agency FB"/>
              </a:rPr>
              <a:t>Optimize Inventory Management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gency FB"/>
              </a:rPr>
              <a:t>Use demand forecasting and real-time tracking to balance stock levels and reduce overstock or shortages.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-343080">
              <a:lnSpc>
                <a:spcPct val="100000"/>
              </a:lnSpc>
              <a:buClr>
                <a:srgbClr val="000000"/>
              </a:buClr>
              <a:buFont typeface="Trebuchet MS"/>
              <a:buAutoNum type="arabicPeriod"/>
            </a:pPr>
            <a:r>
              <a:rPr b="1" lang="en-IN" sz="2000" spc="-1" strike="noStrike">
                <a:solidFill>
                  <a:srgbClr val="000000"/>
                </a:solidFill>
                <a:latin typeface="Agency FB"/>
              </a:rPr>
              <a:t>Expand Top-Selling Product Categories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gency FB"/>
              </a:rPr>
              <a:t>Increase production and visibility of high-demand toys and trending product lines.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-343080">
              <a:lnSpc>
                <a:spcPct val="100000"/>
              </a:lnSpc>
              <a:buClr>
                <a:srgbClr val="000000"/>
              </a:buClr>
              <a:buFont typeface="Trebuchet MS"/>
              <a:buAutoNum type="arabicPeriod"/>
            </a:pPr>
            <a:r>
              <a:rPr b="1" lang="en-IN" sz="2000" spc="-1" strike="noStrike">
                <a:solidFill>
                  <a:srgbClr val="000000"/>
                </a:solidFill>
                <a:latin typeface="Agency FB"/>
              </a:rPr>
              <a:t>Seasonal Campaign Planning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000" spc="-1" strike="noStrike">
                <a:solidFill>
                  <a:srgbClr val="000000"/>
                </a:solidFill>
                <a:latin typeface="Agency FB"/>
              </a:rPr>
              <a:t>Launch promotional offers during peak months (March–April, December) to leverage high demand.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39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149" name="Freeform 14"/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cxnSp>
          <p:nvCxnSpPr>
            <p:cNvPr id="150" name="Straight Connector 11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151" name="Straight Connector 12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152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53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54" name="Isosceles Triangle 15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55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56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57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58" name="Isosceles Triangle 19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159" name="Picture 2"/>
          <p:cNvSpPr/>
          <p:nvPr/>
        </p:nvSpPr>
        <p:spPr>
          <a:xfrm>
            <a:off x="0" y="0"/>
            <a:ext cx="5394600" cy="6857640"/>
          </a:xfrm>
          <a:custGeom>
            <a:avLst/>
            <a:gdLst>
              <a:gd name="textAreaLeft" fmla="*/ 0 w 5394600"/>
              <a:gd name="textAreaRight" fmla="*/ 5394960 w 539460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3"/>
          <p:cNvSpPr/>
          <p:nvPr/>
        </p:nvSpPr>
        <p:spPr>
          <a:xfrm>
            <a:off x="5380560" y="1678680"/>
            <a:ext cx="3887640" cy="23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/>
          </a:bodyPr>
          <a:p>
            <a:pPr algn="r">
              <a:lnSpc>
                <a:spcPct val="100000"/>
              </a:lnSpc>
              <a:spcAft>
                <a:spcPts val="601"/>
              </a:spcAft>
            </a:pPr>
            <a:r>
              <a:rPr b="0" lang="en-US" sz="5400" spc="-1" strike="noStrike">
                <a:solidFill>
                  <a:schemeClr val="accent1"/>
                </a:solidFill>
                <a:latin typeface="Trebuchet MS"/>
              </a:rPr>
              <a:t>Thank You!</a:t>
            </a:r>
            <a:endParaRPr b="0" lang="en-IN" sz="5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" dur="indefinite" restart="never" nodeType="tmRoot">
          <p:childTnLst>
            <p:seq>
              <p:cTn id="14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Application>sFree_Office_for_Docs_and_PDF/7.4.2.3$Windows_X86_64 LibreOffice_project/382eef1f22670f7f4118c8c2dd222ec7ad009daf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2025-11-06T16:15:26Z</dcterms:created>
  <dc:creator>vaishnavi raut</dc:creator>
  <dc:description/>
  <dc:language>en-IN</dc:language>
  <cp:lastModifiedBy/>
  <dcterms:modified xsi:type="dcterms:W3CDTF">2025-11-07T23:00:12Z</dcterms:modified>
  <cp:revision>30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6</vt:i4>
  </property>
</Properties>
</file>