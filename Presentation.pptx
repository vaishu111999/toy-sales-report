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media/image1.jpeg" ContentType="image/jpeg"/>
  <Override PartName="/ppt/media/image3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FBD71A-4C86-43BF-807B-FDC624E314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E8DBC4-7B54-4A8E-868F-8A01BA664F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FD544B-AFBE-4289-B7E1-07E1B7C758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2EED47-A5F5-4836-A436-ADB5C871406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FCA244-E436-45F0-BDA7-AC702DFC3CF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DCC4A9-E05A-409A-A43C-5BAE57924A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AECC43-E437-4351-8612-B4A50FA59D5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0C7872-951E-400A-9671-D1D6C4DF97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02BA52-A6C2-4999-B03D-63683B6F7E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680C2F-54F6-4942-BF5A-60A56A95A6A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ABFAA0-277E-4435-B6C3-30C12161998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E35C05-701B-45E1-B8DC-894B00E9BD9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D3E75C-61B3-4A01-8FA0-4835023EE87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0F40A9C-4CE0-4345-B57A-4F5B965E56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FE8C1B7-53C5-4518-8EC3-76CDCF851A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9067F0-055B-4753-A14B-93DE95C184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CDCD15B-95B8-4998-83C7-702B9DE386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8E06EA8-2BF1-402E-95FD-76FC114506D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6349CF5-6CEE-4BD2-97FC-5B1F387174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F31E4D-1AB1-4E37-9C67-BE47AFA687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042302E-AC1E-4931-91FF-E9427BBB76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024CDD8-F9A0-456D-A59B-36DFC2D32B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E8D03BA-AD68-4798-ACE5-36B97687EEE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2985F4-0891-46B2-BBE3-15CF378A22C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0" name="Group 43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cxnSp>
          <p:nvCxnSpPr>
            <p:cNvPr id="2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sp>
          <p:nvSpPr>
            <p:cNvPr id="3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4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5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6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7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8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9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0" name="Isosceles Triangle 1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</p:grpSp>
      <p:grpSp>
        <p:nvGrpSpPr>
          <p:cNvPr id="11" name="Group 15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sp>
          <p:nvSpPr>
            <p:cNvPr id="12" name="Freeform 14"/>
            <p:cNvSpPr/>
            <p:nvPr/>
          </p:nvSpPr>
          <p:spPr>
            <a:xfrm>
              <a:off x="0" y="-7920"/>
              <a:ext cx="862920" cy="5697360"/>
            </a:xfrm>
            <a:custGeom>
              <a:avLst/>
              <a:gdLst>
                <a:gd name="textAreaLeft" fmla="*/ 0 w 862920"/>
                <a:gd name="textAreaRight" fmla="*/ 863640 w 862920"/>
                <a:gd name="textAreaTop" fmla="*/ 0 h 5697360"/>
                <a:gd name="textAreaBottom" fmla="*/ 5698080 h 5697360"/>
              </a:gdLst>
              <a:ahLst/>
              <a:rect l="textAreaLeft" t="textAreaTop" r="textAreaRight" b="textAreaBottom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cxnSp>
          <p:nvCxnSpPr>
            <p:cNvPr id="13" name="Straight Connector 18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cxnSp>
          <p:nvCxnSpPr>
            <p:cNvPr id="14" name="Straight Connector 19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sp>
          <p:nvSpPr>
            <p:cNvPr id="15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6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7" name="Isosceles Triangle 22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8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9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0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1" name="Isosceles Triangle 26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N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ftr" idx="1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sldNum" idx="2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pc="-1" strike="noStrike">
                <a:solidFill>
                  <a:schemeClr val="accent1"/>
                </a:solidFill>
                <a:latin typeface="Trebuchet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87BD5A-A6BB-4B1D-97C4-1F8C4A201BA2}" type="slidenum">
              <a:rPr b="0" lang="en-US" sz="900" spc="-1" strike="noStrike">
                <a:solidFill>
                  <a:schemeClr val="accent1"/>
                </a:solidFill>
                <a:latin typeface="Trebuchet MS"/>
              </a:rPr>
              <a:t>&lt;number&gt;</a:t>
            </a:fld>
            <a:endParaRPr b="0" lang="en-IN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3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IN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43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64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cxnSp>
          <p:nvCxnSpPr>
            <p:cNvPr id="65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sp>
          <p:nvSpPr>
            <p:cNvPr id="66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67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68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69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70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71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72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73" name="Isosceles Triangle 1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</p:grpSp>
      <p:sp>
        <p:nvSpPr>
          <p:cNvPr id="74" name="PlaceHolder 1"/>
          <p:cNvSpPr>
            <a:spLocks noGrp="1"/>
          </p:cNvSpPr>
          <p:nvPr>
            <p:ph type="ftr" idx="4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5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pc="-1" strike="noStrike">
                <a:solidFill>
                  <a:schemeClr val="accent1"/>
                </a:solidFill>
                <a:latin typeface="Trebuchet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C6CD9E-AF6B-4EC1-AAD7-369560B07FFA}" type="slidenum">
              <a:rPr b="0" lang="en-US" sz="900" spc="-1" strike="noStrike">
                <a:solidFill>
                  <a:schemeClr val="accent1"/>
                </a:solidFill>
                <a:latin typeface="Trebuchet MS"/>
              </a:rPr>
              <a:t>&lt;number&gt;</a:t>
            </a:fld>
            <a:endParaRPr b="0" lang="en-IN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dt" idx="6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IN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IN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4"/>
          <p:cNvSpPr/>
          <p:nvPr/>
        </p:nvSpPr>
        <p:spPr>
          <a:xfrm>
            <a:off x="3764520" y="258840"/>
            <a:ext cx="9513360" cy="34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IN" sz="3200" spc="-1" strike="noStrike">
                <a:solidFill>
                  <a:srgbClr val="000000"/>
                </a:solidFill>
                <a:latin typeface="Bauhaus 93"/>
                <a:ea typeface="DejaVu Sans"/>
              </a:rPr>
              <a:t>Toy Sales Report Dashboard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Tools Used: Power BI | SQL | Excel    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Your Role: Data Analyst   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Duration: Feb 2025 – Mar 2025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Comprehensive analysis of toy store performance, sales, and inventory metrics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5"/>
          <p:cNvSpPr/>
          <p:nvPr/>
        </p:nvSpPr>
        <p:spPr>
          <a:xfrm>
            <a:off x="3765600" y="4563360"/>
            <a:ext cx="95133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IN" sz="2000" spc="-1" strike="noStrike">
                <a:solidFill>
                  <a:srgbClr val="000000"/>
                </a:solidFill>
                <a:latin typeface="Bauhaus 93"/>
                <a:ea typeface="DejaVu Sans"/>
              </a:rPr>
              <a:t>PRESENTED BY: VAISHNAVI SWAPNIL RAUT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Picture 1" descr="A group of toys on a wooden floor&#10;&#10;AI-generated content may be incorrect."/>
          <p:cNvPicPr/>
          <p:nvPr/>
        </p:nvPicPr>
        <p:blipFill>
          <a:blip r:embed="rId1"/>
          <a:stretch/>
        </p:blipFill>
        <p:spPr>
          <a:xfrm>
            <a:off x="-3240" y="0"/>
            <a:ext cx="4511160" cy="6870600"/>
          </a:xfrm>
          <a:prstGeom prst="rect">
            <a:avLst/>
          </a:prstGeom>
          <a:ln w="0">
            <a:noFill/>
          </a:ln>
        </p:spPr>
      </p:pic>
    </p:spTree>
  </p:cSld>
  <p:transition spd="slow"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2"/>
          <p:cNvSpPr/>
          <p:nvPr/>
        </p:nvSpPr>
        <p:spPr>
          <a:xfrm>
            <a:off x="1298160" y="538560"/>
            <a:ext cx="9313200" cy="554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ctr">
              <a:lnSpc>
                <a:spcPct val="100000"/>
              </a:lnSpc>
              <a:spcAft>
                <a:spcPts val="1874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1" lang="en-IN" sz="2000" spc="-1" strike="noStrike">
                <a:solidFill>
                  <a:srgbClr val="000000"/>
                </a:solidFill>
                <a:latin typeface="Bauhaus 93"/>
                <a:ea typeface="DejaVu Sans"/>
              </a:rPr>
              <a:t>Goal Of Project</a:t>
            </a:r>
            <a:r>
              <a:rPr b="0" lang="en-IN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: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1874"/>
              </a:spcAft>
            </a:pP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1874"/>
              </a:spcAft>
              <a:buClr>
                <a:srgbClr val="000000"/>
              </a:buClr>
              <a:buFont typeface="Courier New"/>
              <a:buChar char="o"/>
            </a:pPr>
            <a:r>
              <a:rPr b="0" lang="en-IN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r>
              <a:rPr b="0" lang="en-IN" sz="2800" spc="-1" strike="noStrike">
                <a:solidFill>
                  <a:srgbClr val="000000"/>
                </a:solidFill>
                <a:latin typeface="Agency FB"/>
                <a:ea typeface="DejaVu Sans"/>
              </a:rPr>
              <a:t>To analyze toy sales data across multiple store locations to uncover sales trends, location-wise performance, product demand, and inventory insights for better business decision-making.</a:t>
            </a:r>
            <a:endParaRPr b="0" lang="en-IN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874"/>
              </a:spcAft>
            </a:pP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Courier New"/>
              <a:buChar char="o"/>
            </a:pPr>
            <a:r>
              <a:rPr b="1" lang="en-US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Sales Performance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Courier New"/>
              <a:buChar char="o"/>
            </a:pPr>
            <a:r>
              <a:rPr b="1" lang="en-US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Inventory Management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Courier New"/>
              <a:buChar char="o"/>
            </a:pPr>
            <a:r>
              <a:rPr b="1" lang="en-US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Business Decision-Making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874"/>
              </a:spcAft>
            </a:pP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874"/>
              </a:spcAft>
            </a:pP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874"/>
              </a:spcAft>
            </a:pP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roup 7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20" name="Straight Connector 8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cxnSp>
          <p:nvCxnSpPr>
            <p:cNvPr id="121" name="Straight Connector 9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sp>
          <p:nvSpPr>
            <p:cNvPr id="122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23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24" name="Isosceles Triangle 12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25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26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27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28" name="Isosceles Triangle 16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29" name="Isosceles Triangle 17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</p:grpSp>
      <p:sp>
        <p:nvSpPr>
          <p:cNvPr id="130" name="TextBox 6"/>
          <p:cNvSpPr/>
          <p:nvPr/>
        </p:nvSpPr>
        <p:spPr>
          <a:xfrm>
            <a:off x="4766760" y="267840"/>
            <a:ext cx="5698440" cy="605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" charset="2"/>
              <a:buChar char=""/>
            </a:pPr>
            <a:r>
              <a:rPr b="1" lang="en-US" sz="1800" spc="-1" strike="noStrike">
                <a:solidFill>
                  <a:srgbClr val="404040"/>
                </a:solidFill>
                <a:latin typeface="Agency FB"/>
                <a:ea typeface="DejaVu Sans"/>
              </a:rPr>
              <a:t>The toy retail chain was struggling to track and compare sales performance across multiple store locations.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9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" charset="2"/>
              <a:buChar char=""/>
            </a:pPr>
            <a:r>
              <a:rPr b="1" lang="en-US" sz="1800" spc="-1" strike="noStrike">
                <a:solidFill>
                  <a:srgbClr val="404040"/>
                </a:solidFill>
                <a:latin typeface="Agency FB"/>
                <a:ea typeface="DejaVu Sans"/>
              </a:rPr>
              <a:t>        </a:t>
            </a:r>
            <a:r>
              <a:rPr b="1" lang="en-US" sz="1800" spc="-1" strike="noStrike">
                <a:solidFill>
                  <a:srgbClr val="404040"/>
                </a:solidFill>
                <a:latin typeface="Agency FB"/>
                <a:ea typeface="DejaVu Sans"/>
              </a:rPr>
              <a:t>Toy store faced challenges such as: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" charset="2"/>
              <a:buChar char=""/>
            </a:pPr>
            <a:r>
              <a:rPr b="1" lang="en-US" sz="1800" spc="-1" strike="noStrike">
                <a:solidFill>
                  <a:srgbClr val="404040"/>
                </a:solidFill>
                <a:latin typeface="Agency FB"/>
                <a:ea typeface="DejaVu Sans"/>
              </a:rPr>
              <a:t>Lack of centralized visibility into sales, profit, and inventory data.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" charset="2"/>
              <a:buChar char=""/>
            </a:pPr>
            <a:r>
              <a:rPr b="1" lang="en-US" sz="1800" spc="-1" strike="noStrike">
                <a:solidFill>
                  <a:srgbClr val="404040"/>
                </a:solidFill>
                <a:latin typeface="Agency FB"/>
                <a:ea typeface="DejaVu Sans"/>
              </a:rPr>
              <a:t>Difficulty identifying high- and low-performing stores or products.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" charset="2"/>
              <a:buChar char=""/>
            </a:pPr>
            <a:r>
              <a:rPr b="1" lang="en-US" sz="1800" spc="-1" strike="noStrike">
                <a:solidFill>
                  <a:srgbClr val="404040"/>
                </a:solidFill>
                <a:latin typeface="Agency FB"/>
                <a:ea typeface="DejaVu Sans"/>
              </a:rPr>
              <a:t>Inefficient inventory distribution causing overstock or stockouts.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" charset="2"/>
              <a:buChar char=""/>
            </a:pPr>
            <a:r>
              <a:rPr b="1" lang="en-US" sz="1800" spc="-1" strike="noStrike">
                <a:solidFill>
                  <a:srgbClr val="404040"/>
                </a:solidFill>
                <a:latin typeface="Agency FB"/>
                <a:ea typeface="DejaVu Sans"/>
              </a:rPr>
              <a:t>Limited insights into location-based and seasonal sales trends.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90000"/>
              </a:lnSpc>
              <a:spcBef>
                <a:spcPts val="1001"/>
              </a:spcBef>
              <a:buClr>
                <a:srgbClr val="5fcbef"/>
              </a:buClr>
              <a:buSzPct val="80000"/>
              <a:buFont typeface="Wingdings" charset="2"/>
              <a:buChar char=""/>
            </a:pPr>
            <a:r>
              <a:rPr b="1" lang="en-US" sz="1800" spc="-1" strike="noStrike">
                <a:solidFill>
                  <a:srgbClr val="404040"/>
                </a:solidFill>
                <a:latin typeface="Agency FB"/>
                <a:ea typeface="DejaVu Sans"/>
              </a:rPr>
              <a:t>Manual reporting leading to delayed decision-making</a:t>
            </a:r>
            <a:r>
              <a:rPr b="1" lang="en-US" sz="1600" spc="-1" strike="noStrike">
                <a:solidFill>
                  <a:srgbClr val="404040"/>
                </a:solidFill>
                <a:latin typeface="Trebuchet MS"/>
                <a:ea typeface="DejaVu Sans"/>
              </a:rPr>
              <a:t>.</a:t>
            </a:r>
            <a:endParaRPr b="0" lang="en-IN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" name="Picture 1" descr="A group of toys on a wooden floor&#10;&#10;AI-generated content may be incorrect."/>
          <p:cNvPicPr/>
          <p:nvPr/>
        </p:nvPicPr>
        <p:blipFill>
          <a:blip r:embed="rId1"/>
          <a:srcRect l="1280" t="0" r="5610" b="0"/>
          <a:stretch/>
        </p:blipFill>
        <p:spPr>
          <a:xfrm>
            <a:off x="346680" y="405360"/>
            <a:ext cx="3942000" cy="5635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22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rebuchet MS"/>
              <a:ea typeface="DejaVu Sans"/>
            </a:endParaRPr>
          </a:p>
        </p:txBody>
      </p:sp>
      <p:sp>
        <p:nvSpPr>
          <p:cNvPr id="133" name="Rectangle 23"/>
          <p:cNvSpPr/>
          <p:nvPr/>
        </p:nvSpPr>
        <p:spPr>
          <a:xfrm>
            <a:off x="477000" y="480240"/>
            <a:ext cx="11237400" cy="5897160"/>
          </a:xfrm>
          <a:prstGeom prst="rect">
            <a:avLst/>
          </a:prstGeom>
          <a:solidFill>
            <a:srgbClr val="fcc318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Trebuchet MS"/>
              <a:ea typeface="DejaVu Sans"/>
            </a:endParaRPr>
          </a:p>
        </p:txBody>
      </p:sp>
      <p:sp>
        <p:nvSpPr>
          <p:cNvPr id="134" name="Rectangle 1"/>
          <p:cNvSpPr/>
          <p:nvPr/>
        </p:nvSpPr>
        <p:spPr>
          <a:xfrm>
            <a:off x="462240" y="480240"/>
            <a:ext cx="11417760" cy="6179760"/>
          </a:xfrm>
          <a:prstGeom prst="rect">
            <a:avLst/>
          </a:prstGeom>
          <a:solidFill>
            <a:srgbClr val="fcc318"/>
          </a:solidFill>
          <a:ln cap="rnd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Trebuchet MS"/>
              <a:ea typeface="DejaVu Sans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rcRect l="76" t="1608" r="1611" b="0"/>
          <a:stretch/>
        </p:blipFill>
        <p:spPr>
          <a:xfrm>
            <a:off x="540000" y="540000"/>
            <a:ext cx="11174400" cy="6041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roup 67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37" name="Straight Connector 68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cxnSp>
          <p:nvCxnSpPr>
            <p:cNvPr id="138" name="Straight Connector 69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sp>
          <p:nvSpPr>
            <p:cNvPr id="139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40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41" name="Isosceles Triangle 72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42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43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44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45" name="Isosceles Triangle 76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46" name="Isosceles Triangle 77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</p:grpSp>
      <p:sp>
        <p:nvSpPr>
          <p:cNvPr id="147" name="Isosceles Triangle 8"/>
          <p:cNvSpPr/>
          <p:nvPr/>
        </p:nvSpPr>
        <p:spPr>
          <a:xfrm>
            <a:off x="0" y="4013280"/>
            <a:ext cx="475920" cy="28440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chemeClr val="lt1"/>
              </a:solidFill>
              <a:latin typeface="Trebuchet MS"/>
              <a:ea typeface="DejaVu Sans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572040" y="668160"/>
            <a:ext cx="8702640" cy="49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"/>
            </a:pPr>
            <a:r>
              <a:rPr b="1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Strategic Recommendations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Trebuchet MS"/>
              <a:buAutoNum type="arabicPeriod"/>
            </a:pPr>
            <a:r>
              <a:rPr b="1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Focus on High-Performing Locations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</a:pPr>
            <a:r>
              <a:rPr b="0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Invest more in marketing and inventory for Downtown and Commercial area stores to maximize revenue potential.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Trebuchet MS"/>
              <a:buAutoNum type="arabicPeriod"/>
            </a:pPr>
            <a:r>
              <a:rPr b="1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Reevaluate Low-Performing Stores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Analyze reasons behind low sales in Residential and Airport areas; consider targeted promotions or store restructuring.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Trebuchet MS"/>
              <a:buAutoNum type="arabicPeriod"/>
            </a:pPr>
            <a:r>
              <a:rPr b="1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Optimize Inventory Management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Use demand forecasting and real-time tracking to balance stock levels and reduce overstock or shortages.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Trebuchet MS"/>
              <a:buAutoNum type="arabicPeriod"/>
            </a:pPr>
            <a:r>
              <a:rPr b="1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Expand Top-Selling Product Categories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Increase production and visibility of high-demand toys and trending product lines.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Trebuchet MS"/>
              <a:buAutoNum type="arabicPeriod"/>
            </a:pPr>
            <a:r>
              <a:rPr b="1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Seasonal Campaign Planning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IN" sz="2000" spc="-1" strike="noStrike">
                <a:solidFill>
                  <a:srgbClr val="000000"/>
                </a:solidFill>
                <a:latin typeface="Agency FB"/>
                <a:ea typeface="DejaVu Sans"/>
              </a:rPr>
              <a:t>Launch promotional offers during peak months (March–April, December) to leverage high demand.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roup 39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sp>
          <p:nvSpPr>
            <p:cNvPr id="150" name="Freeform 14"/>
            <p:cNvSpPr/>
            <p:nvPr/>
          </p:nvSpPr>
          <p:spPr>
            <a:xfrm>
              <a:off x="0" y="-7920"/>
              <a:ext cx="862920" cy="5697360"/>
            </a:xfrm>
            <a:custGeom>
              <a:avLst/>
              <a:gdLst>
                <a:gd name="textAreaLeft" fmla="*/ 0 w 862920"/>
                <a:gd name="textAreaRight" fmla="*/ 863640 w 862920"/>
                <a:gd name="textAreaTop" fmla="*/ 0 h 5697360"/>
                <a:gd name="textAreaBottom" fmla="*/ 5698080 h 5697360"/>
              </a:gdLst>
              <a:ahLst/>
              <a:rect l="textAreaLeft" t="textAreaTop" r="textAreaRight" b="textAreaBottom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cxnSp>
          <p:nvCxnSpPr>
            <p:cNvPr id="151" name="Straight Connector 11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cxnSp>
          <p:nvCxnSpPr>
            <p:cNvPr id="152" name="Straight Connector 12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5fcbef">
                  <a:alpha val="70000"/>
                </a:srgbClr>
              </a:solidFill>
              <a:round/>
            </a:ln>
          </p:spPr>
        </p:cxnSp>
        <p:sp>
          <p:nvSpPr>
            <p:cNvPr id="153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54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55" name="Isosceles Triangle 15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56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57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58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  <p:sp>
          <p:nvSpPr>
            <p:cNvPr id="159" name="Isosceles Triangle 19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pc="-1" strike="noStrike">
                <a:solidFill>
                  <a:schemeClr val="lt1"/>
                </a:solidFill>
                <a:latin typeface="Trebuchet MS"/>
                <a:ea typeface="DejaVu Sans"/>
              </a:endParaRPr>
            </a:p>
          </p:txBody>
        </p:sp>
      </p:grpSp>
      <p:sp>
        <p:nvSpPr>
          <p:cNvPr id="160" name="Picture 2"/>
          <p:cNvSpPr/>
          <p:nvPr/>
        </p:nvSpPr>
        <p:spPr>
          <a:xfrm>
            <a:off x="0" y="0"/>
            <a:ext cx="5394240" cy="6857280"/>
          </a:xfrm>
          <a:custGeom>
            <a:avLst/>
            <a:gdLst>
              <a:gd name="textAreaLeft" fmla="*/ 0 w 5394240"/>
              <a:gd name="textAreaRight" fmla="*/ 5394960 w 5394240"/>
              <a:gd name="textAreaTop" fmla="*/ 0 h 6857280"/>
              <a:gd name="textAreaBottom" fmla="*/ 6858000 h 6857280"/>
            </a:gdLst>
            <a:ahLst/>
            <a:rect l="textAreaLeft" t="textAreaTop" r="textAreaRight" b="textAreaBottom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" name="TextBox 3"/>
          <p:cNvSpPr/>
          <p:nvPr/>
        </p:nvSpPr>
        <p:spPr>
          <a:xfrm>
            <a:off x="5380560" y="1678680"/>
            <a:ext cx="3887280" cy="23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 algn="r">
              <a:lnSpc>
                <a:spcPct val="100000"/>
              </a:lnSpc>
              <a:spcAft>
                <a:spcPts val="601"/>
              </a:spcAft>
            </a:pPr>
            <a:r>
              <a:rPr b="0" lang="en-US" sz="5400" spc="-1" strike="noStrike">
                <a:solidFill>
                  <a:schemeClr val="accent1"/>
                </a:solidFill>
                <a:latin typeface="Trebuchet MS"/>
                <a:ea typeface="DejaVu Sans"/>
              </a:rPr>
              <a:t>Thank You!</a:t>
            </a:r>
            <a:endParaRPr b="0" lang="en-IN" sz="5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" dur="indefinite" restart="never" nodeType="tmRoot">
          <p:childTnLst>
            <p:seq>
              <p:cTn id="14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</TotalTime>
  <Application>sFree_Office_for_Docs_and_PDF/7.4.2.3$Windows_X86_64 LibreOffice_project/382eef1f22670f7f4118c8c2dd222ec7ad009daf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2025-11-06T16:15:26Z</dcterms:created>
  <dc:creator>vaishnavi raut</dc:creator>
  <dc:description/>
  <dc:language>en-IN</dc:language>
  <cp:lastModifiedBy/>
  <dcterms:modified xsi:type="dcterms:W3CDTF">2025-11-08T22:23:23Z</dcterms:modified>
  <cp:revision>31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6</vt:i4>
  </property>
</Properties>
</file>