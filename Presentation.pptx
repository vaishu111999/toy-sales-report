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5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D39AB5-9B8E-EFA0-2A49-A0B57EC4FC4E}" v="44" dt="2025-11-07T05:18:52.599"/>
    <p1510:client id="{E2CB8E3D-8651-4EB6-AC90-F507A7E6D326}" v="39" dt="2025-11-07T05:24:04.735"/>
    <p1510:client id="{F1EDFB24-6BE9-D215-DB57-2BADF8612180}" v="66" dt="2025-11-06T17:02:37.896"/>
    <p1510:client id="{FE9C7E7B-2F7B-7828-DAE1-6EDA740CC211}" v="1" dt="2025-11-06T17:14:25.7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8176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875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176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496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999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57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43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653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169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8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80773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2433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862189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26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3170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5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010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  <p:sldLayoutId id="2147483758" r:id="rId13"/>
    <p:sldLayoutId id="2147483759" r:id="rId14"/>
    <p:sldLayoutId id="2147483760" r:id="rId15"/>
    <p:sldLayoutId id="214748376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35A2E4-8479-AF83-3111-7A6456893889}"/>
              </a:ext>
            </a:extLst>
          </p:cNvPr>
          <p:cNvSpPr txBox="1"/>
          <p:nvPr/>
        </p:nvSpPr>
        <p:spPr>
          <a:xfrm>
            <a:off x="3764355" y="258713"/>
            <a:ext cx="9514113" cy="3477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IN" sz="3200" b="1">
                <a:solidFill>
                  <a:schemeClr val="tx1"/>
                </a:solidFill>
                <a:latin typeface="Bauhaus 93"/>
              </a:rPr>
              <a:t>Toy Sales Report Dashboard</a:t>
            </a:r>
          </a:p>
          <a:p>
            <a:pPr algn="ctr"/>
            <a:endParaRPr lang="en-IN" sz="3200" b="1">
              <a:solidFill>
                <a:schemeClr val="tx1"/>
              </a:solidFill>
              <a:latin typeface="Bauhaus 93" panose="04030905020B02020C02" pitchFamily="82" charset="0"/>
            </a:endParaRPr>
          </a:p>
          <a:p>
            <a:pPr algn="ctr"/>
            <a:endParaRPr lang="en-IN">
              <a:solidFill>
                <a:schemeClr val="tx1"/>
              </a:solidFill>
            </a:endParaRPr>
          </a:p>
          <a:p>
            <a:pPr algn="ctr"/>
            <a:r>
              <a:rPr lang="en-IN" sz="2000">
                <a:solidFill>
                  <a:schemeClr val="tx1"/>
                </a:solidFill>
                <a:latin typeface="Agency FB" panose="020B0503020202020204" pitchFamily="34" charset="0"/>
              </a:rPr>
              <a:t>Tools Used: Power BI | SQL | Excel    </a:t>
            </a:r>
          </a:p>
          <a:p>
            <a:pPr algn="ctr"/>
            <a:r>
              <a:rPr lang="en-IN" sz="2000">
                <a:solidFill>
                  <a:schemeClr val="tx1"/>
                </a:solidFill>
                <a:latin typeface="Agency FB" panose="020B0503020202020204" pitchFamily="34" charset="0"/>
              </a:rPr>
              <a:t>Your Role: Data Analyst   </a:t>
            </a:r>
          </a:p>
          <a:p>
            <a:pPr algn="ctr"/>
            <a:r>
              <a:rPr lang="en-IN" sz="2000">
                <a:solidFill>
                  <a:schemeClr val="tx1"/>
                </a:solidFill>
                <a:latin typeface="Agency FB" panose="020B0503020202020204" pitchFamily="34" charset="0"/>
              </a:rPr>
              <a:t>Duration: Feb 2025 – Mar 2025</a:t>
            </a:r>
            <a:endParaRPr lang="en-IN" sz="2000">
              <a:ln>
                <a:solidFill>
                  <a:prstClr val="white"/>
                </a:solidFill>
              </a:ln>
              <a:solidFill>
                <a:schemeClr val="tx1"/>
              </a:solidFill>
              <a:latin typeface="Agency FB" panose="020B0503020202020204" pitchFamily="34" charset="0"/>
            </a:endParaRPr>
          </a:p>
          <a:p>
            <a:endParaRPr lang="en-IN" sz="2000">
              <a:ln>
                <a:solidFill>
                  <a:prstClr val="white"/>
                </a:solidFill>
              </a:ln>
              <a:solidFill>
                <a:schemeClr val="tx1"/>
              </a:solidFill>
              <a:latin typeface="Agency FB" panose="020B0503020202020204" pitchFamily="34" charset="0"/>
            </a:endParaRPr>
          </a:p>
          <a:p>
            <a:endParaRPr lang="en-IN">
              <a:ln>
                <a:solidFill>
                  <a:prstClr val="white"/>
                </a:solidFill>
              </a:ln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pPr algn="ctr"/>
            <a:r>
              <a:rPr lang="en-IN" sz="2000" b="1">
                <a:solidFill>
                  <a:schemeClr val="tx1"/>
                </a:solidFill>
                <a:latin typeface="Agency FB"/>
                <a:cs typeface="Times New Roman"/>
              </a:rPr>
              <a:t>Comprehensive analysis of toy store performance, sales, and inventory metrics</a:t>
            </a:r>
          </a:p>
          <a:p>
            <a:pPr algn="ctr"/>
            <a:endParaRPr lang="en-IN" sz="2000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985115-CDE5-70D7-9CA4-5BE5D7C7DF78}"/>
              </a:ext>
            </a:extLst>
          </p:cNvPr>
          <p:cNvSpPr txBox="1"/>
          <p:nvPr/>
        </p:nvSpPr>
        <p:spPr>
          <a:xfrm>
            <a:off x="3765502" y="4563264"/>
            <a:ext cx="9514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000">
                <a:ln>
                  <a:solidFill>
                    <a:schemeClr val="bg2">
                      <a:lumMod val="60000"/>
                      <a:lumOff val="40000"/>
                    </a:schemeClr>
                  </a:solidFill>
                </a:ln>
                <a:latin typeface="Bauhaus 93" panose="04030905020B02020C02" pitchFamily="82" charset="0"/>
              </a:rPr>
              <a:t>PRESENTED BY: VAISHNAVI SWAPNIL RAUT</a:t>
            </a:r>
          </a:p>
        </p:txBody>
      </p:sp>
      <p:pic>
        <p:nvPicPr>
          <p:cNvPr id="2" name="Picture 1" descr="A group of toys on a wooden floor&#10;&#10;AI-generated content may be incorrect.">
            <a:extLst>
              <a:ext uri="{FF2B5EF4-FFF2-40B4-BE49-F238E27FC236}">
                <a16:creationId xmlns:a16="http://schemas.microsoft.com/office/drawing/2014/main" id="{B9375E2C-36B9-D4E8-20F3-F3D0BCB9B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342" y="0"/>
            <a:ext cx="4511841" cy="687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9113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7F64D3-0605-56AC-AC53-6D347B152122}"/>
              </a:ext>
            </a:extLst>
          </p:cNvPr>
          <p:cNvSpPr txBox="1"/>
          <p:nvPr/>
        </p:nvSpPr>
        <p:spPr>
          <a:xfrm>
            <a:off x="1298121" y="538547"/>
            <a:ext cx="9313807" cy="561692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 algn="ctr">
              <a:spcAft>
                <a:spcPts val="1875"/>
              </a:spcAft>
              <a:buFont typeface="Wingdings" panose="05000000000000000000" pitchFamily="2" charset="2"/>
              <a:buChar char="q"/>
            </a:pPr>
            <a:r>
              <a:rPr lang="en-IN" sz="2000" b="1" i="0" dirty="0">
                <a:effectLst/>
                <a:latin typeface="Bauhaus 93"/>
                <a:cs typeface="Times New Roman"/>
              </a:rPr>
              <a:t>Goal Of Project</a:t>
            </a:r>
            <a:r>
              <a:rPr lang="en-IN" sz="2000" b="0" i="0" dirty="0">
                <a:effectLst/>
                <a:latin typeface="Times New Roman"/>
                <a:cs typeface="Times New Roman"/>
              </a:rPr>
              <a:t>:</a:t>
            </a:r>
          </a:p>
          <a:p>
            <a:pPr marL="342900" indent="-342900" algn="ctr">
              <a:spcAft>
                <a:spcPts val="1875"/>
              </a:spcAft>
              <a:buFont typeface="Wingdings" panose="05000000000000000000" pitchFamily="2" charset="2"/>
              <a:buChar char="q"/>
            </a:pPr>
            <a:endParaRPr lang="en-IN" sz="2000" b="0" i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spcAft>
                <a:spcPts val="1875"/>
              </a:spcAft>
              <a:buFont typeface="Courier New" panose="02070309020205020404" pitchFamily="49" charset="0"/>
              <a:buChar char="o"/>
            </a:pPr>
            <a:r>
              <a:rPr lang="en-IN" sz="2000" b="0" i="0" dirty="0">
                <a:effectLst/>
                <a:latin typeface="Times New Roman"/>
                <a:cs typeface="Times New Roman"/>
              </a:rPr>
              <a:t> </a:t>
            </a:r>
            <a:r>
              <a:rPr lang="en-IN" sz="2800" b="0" i="0" dirty="0">
                <a:effectLst/>
                <a:latin typeface="Agency FB"/>
                <a:cs typeface="Times New Roman"/>
              </a:rPr>
              <a:t>To </a:t>
            </a:r>
            <a:r>
              <a:rPr lang="en-IN" sz="2800" b="0" i="0" err="1">
                <a:effectLst/>
                <a:latin typeface="Agency FB"/>
                <a:cs typeface="Times New Roman"/>
              </a:rPr>
              <a:t>analyze</a:t>
            </a:r>
            <a:r>
              <a:rPr lang="en-IN" sz="2800" b="0" i="0" dirty="0">
                <a:effectLst/>
                <a:latin typeface="Agency FB"/>
                <a:cs typeface="Times New Roman"/>
              </a:rPr>
              <a:t> toy sales data across multiple store locations to uncover sales trends, location-wise performance, product demand, and inventory insights for better business decision-making.</a:t>
            </a:r>
          </a:p>
          <a:p>
            <a:pPr marL="342900" indent="-342900" algn="l">
              <a:spcAft>
                <a:spcPts val="1875"/>
              </a:spcAft>
              <a:buFont typeface="Courier New" panose="02070309020205020404" pitchFamily="49" charset="0"/>
              <a:buChar char="o"/>
            </a:pPr>
            <a:endParaRPr lang="en-I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2000" b="1" dirty="0">
                <a:latin typeface="Times New Roman"/>
                <a:cs typeface="Times New Roman"/>
              </a:rPr>
              <a:t>Sales Performance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2000" b="1" dirty="0">
                <a:latin typeface="Times New Roman"/>
                <a:cs typeface="Times New Roman"/>
              </a:rPr>
              <a:t>Inventory Management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lang="en-US" altLang="en-US" sz="2000" b="1" dirty="0">
                <a:latin typeface="Times New Roman"/>
                <a:cs typeface="Times New Roman"/>
              </a:rPr>
              <a:t>Business Decision-Making</a:t>
            </a:r>
          </a:p>
          <a:p>
            <a:pPr marL="342900" indent="-342900" algn="l">
              <a:spcAft>
                <a:spcPts val="1875"/>
              </a:spcAft>
              <a:buFont typeface="Courier New" panose="02070309020205020404" pitchFamily="49" charset="0"/>
              <a:buChar char="o"/>
            </a:pPr>
            <a:endParaRPr lang="en-IN" sz="2000" b="0" i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1875"/>
              </a:spcAft>
              <a:buFont typeface="Arial" panose="020B0604020202020204" pitchFamily="34" charset="0"/>
              <a:buChar char="•"/>
            </a:pPr>
            <a:endParaRPr lang="en-I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1875"/>
              </a:spcAft>
              <a:buFont typeface="Arial" panose="020B0604020202020204" pitchFamily="34" charset="0"/>
              <a:buChar char="•"/>
            </a:pPr>
            <a:endParaRPr lang="en-IN" sz="2000" b="0" i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950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4951899-B99C-47AB-9C7C-16264D7A1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94D217E-92A1-48B2-B6BF-8B6A35AF9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9582FD9-95AB-4339-8A07-BAD420BE1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23">
              <a:extLst>
                <a:ext uri="{FF2B5EF4-FFF2-40B4-BE49-F238E27FC236}">
                  <a16:creationId xmlns:a16="http://schemas.microsoft.com/office/drawing/2014/main" id="{6778DC79-DE09-4F89-81B1-275C542D7F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2" name="Rectangle 25">
              <a:extLst>
                <a:ext uri="{FF2B5EF4-FFF2-40B4-BE49-F238E27FC236}">
                  <a16:creationId xmlns:a16="http://schemas.microsoft.com/office/drawing/2014/main" id="{EAEC370A-1F34-4D8E-B065-81F6F568A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A816EDF3-D9EE-488C-AFDC-022381513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4" name="Rectangle 27">
              <a:extLst>
                <a:ext uri="{FF2B5EF4-FFF2-40B4-BE49-F238E27FC236}">
                  <a16:creationId xmlns:a16="http://schemas.microsoft.com/office/drawing/2014/main" id="{E8330BD4-97D9-4D24-815A-0E557B04F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Rectangle 28">
              <a:extLst>
                <a:ext uri="{FF2B5EF4-FFF2-40B4-BE49-F238E27FC236}">
                  <a16:creationId xmlns:a16="http://schemas.microsoft.com/office/drawing/2014/main" id="{EA8EDE67-BAC0-478C-99D9-BBC5AD53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Rectangle 29">
              <a:extLst>
                <a:ext uri="{FF2B5EF4-FFF2-40B4-BE49-F238E27FC236}">
                  <a16:creationId xmlns:a16="http://schemas.microsoft.com/office/drawing/2014/main" id="{33DFB3F3-2523-4F1F-BC2B-B97C172F2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E5660E4-7443-4FCC-AD43-9D1AE972B5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EDF9C36-B365-4426-85B9-82E0DE187A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022FE56-1680-11F4-3561-408E30DC8BF5}"/>
              </a:ext>
            </a:extLst>
          </p:cNvPr>
          <p:cNvSpPr txBox="1"/>
          <p:nvPr/>
        </p:nvSpPr>
        <p:spPr>
          <a:xfrm>
            <a:off x="4766734" y="267877"/>
            <a:ext cx="5699053" cy="60565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The toy retail chain was struggling to track and compare sales performance across multiple store locations.</a:t>
            </a: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panose="05000000000000000000" pitchFamily="2" charset="2"/>
              <a:buChar char="v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        Toy store faced challenges such as:</a:t>
            </a:r>
          </a:p>
          <a:p>
            <a:pPr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 b="1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Lack of centralized visibility into sales, profit, and inventory data.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 b="1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Difficulty identifying high- and low-performing stores or products.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 b="1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Inefficient inventory distribution causing overstock or stockouts.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 b="1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Limited insights into location-based and seasonal sales trends.</a:t>
            </a: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endParaRPr lang="en-US" b="1">
              <a:solidFill>
                <a:schemeClr val="tx1">
                  <a:lumMod val="75000"/>
                  <a:lumOff val="25000"/>
                </a:schemeClr>
              </a:solidFill>
              <a:latin typeface="Agency FB" panose="020B0503020202020204" pitchFamily="34" charset="0"/>
            </a:endParaRPr>
          </a:p>
          <a:p>
            <a:pPr marL="342900" indent="-342900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80000"/>
              <a:buFont typeface="Wingdings" charset="2"/>
              <a:buChar char="Ø"/>
            </a:pPr>
            <a:r>
              <a:rPr lang="en-US" b="1">
                <a:solidFill>
                  <a:schemeClr val="tx1">
                    <a:lumMod val="75000"/>
                    <a:lumOff val="25000"/>
                  </a:schemeClr>
                </a:solidFill>
                <a:latin typeface="Agency FB" panose="020B0503020202020204" pitchFamily="34" charset="0"/>
              </a:rPr>
              <a:t>Manual reporting leading to delayed decision-making</a:t>
            </a:r>
            <a:r>
              <a:rPr 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</p:txBody>
      </p:sp>
      <p:pic>
        <p:nvPicPr>
          <p:cNvPr id="2" name="Picture 1" descr="A group of toys on a wooden floor&#10;&#10;AI-generated content may be incorrect.">
            <a:extLst>
              <a:ext uri="{FF2B5EF4-FFF2-40B4-BE49-F238E27FC236}">
                <a16:creationId xmlns:a16="http://schemas.microsoft.com/office/drawing/2014/main" id="{3950C34C-59A5-4CDA-B87F-D056708B5B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64" r="5609" b="3"/>
          <a:stretch>
            <a:fillRect/>
          </a:stretch>
        </p:blipFill>
        <p:spPr>
          <a:xfrm>
            <a:off x="346655" y="405294"/>
            <a:ext cx="3942562" cy="5636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470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1DC778F-EF1A-4C1B-B1AD-BA37A74E5D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3FCDB4-670C-4568-96EE-093382A9E6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CC318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6F5AA8-5C7C-6615-36B5-7B451A8137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26" b="-1"/>
          <a:stretch>
            <a:fillRect/>
          </a:stretch>
        </p:blipFill>
        <p:spPr>
          <a:xfrm>
            <a:off x="643467" y="643467"/>
            <a:ext cx="1090506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94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67">
            <a:extLst>
              <a:ext uri="{FF2B5EF4-FFF2-40B4-BE49-F238E27FC236}">
                <a16:creationId xmlns:a16="http://schemas.microsoft.com/office/drawing/2014/main" id="{BCAEEEBD-779B-4609-A737-4BEFD64744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9F865128-9162-4A93-BA38-3EDA100D05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7FAD7EB-2975-48FE-9C11-06D44B0DB0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Rectangle 23">
              <a:extLst>
                <a:ext uri="{FF2B5EF4-FFF2-40B4-BE49-F238E27FC236}">
                  <a16:creationId xmlns:a16="http://schemas.microsoft.com/office/drawing/2014/main" id="{8F958341-3D13-40CF-B851-BBFE57BD4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" name="Rectangle 25">
              <a:extLst>
                <a:ext uri="{FF2B5EF4-FFF2-40B4-BE49-F238E27FC236}">
                  <a16:creationId xmlns:a16="http://schemas.microsoft.com/office/drawing/2014/main" id="{E52E91BF-6028-4758-83D2-479E08BC69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BB6FFE21-EADD-48B3-B3A3-7D6CEBD0A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4" name="Rectangle 27">
              <a:extLst>
                <a:ext uri="{FF2B5EF4-FFF2-40B4-BE49-F238E27FC236}">
                  <a16:creationId xmlns:a16="http://schemas.microsoft.com/office/drawing/2014/main" id="{1DC66C91-0E5F-44BB-A970-EBE30BD37F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5" name="Rectangle 28">
              <a:extLst>
                <a:ext uri="{FF2B5EF4-FFF2-40B4-BE49-F238E27FC236}">
                  <a16:creationId xmlns:a16="http://schemas.microsoft.com/office/drawing/2014/main" id="{B94AAD67-2A87-45F4-89D1-050773C99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6" name="Rectangle 29">
              <a:extLst>
                <a:ext uri="{FF2B5EF4-FFF2-40B4-BE49-F238E27FC236}">
                  <a16:creationId xmlns:a16="http://schemas.microsoft.com/office/drawing/2014/main" id="{7051A6E4-D760-437F-8BB3-F99D4A20F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2A6C2BC1-D612-48ED-923C-0F0024DB06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8" name="Isosceles Triangle 77">
              <a:extLst>
                <a:ext uri="{FF2B5EF4-FFF2-40B4-BE49-F238E27FC236}">
                  <a16:creationId xmlns:a16="http://schemas.microsoft.com/office/drawing/2014/main" id="{3EC7FFC4-633F-4F2A-AB36-3D953B16B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80" name="Isosceles Triangle 8">
            <a:extLst>
              <a:ext uri="{FF2B5EF4-FFF2-40B4-BE49-F238E27FC236}">
                <a16:creationId xmlns:a16="http://schemas.microsoft.com/office/drawing/2014/main" id="{8B4C3E9C-D9F6-4DE9-A1CE-0FD8AD7835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44A8CE-88EC-9DA7-E13F-D915F8B2A4A8}"/>
              </a:ext>
            </a:extLst>
          </p:cNvPr>
          <p:cNvSpPr txBox="1"/>
          <p:nvPr/>
        </p:nvSpPr>
        <p:spPr>
          <a:xfrm>
            <a:off x="572118" y="668208"/>
            <a:ext cx="8703431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IN" sz="2000" b="1">
                <a:latin typeface="Agency FB" panose="020B0503020202020204" pitchFamily="34" charset="0"/>
              </a:rPr>
              <a:t>Strategic Recommendations</a:t>
            </a:r>
          </a:p>
          <a:p>
            <a:pPr>
              <a:buNone/>
            </a:pPr>
            <a:endParaRPr lang="en-IN" sz="2000" b="1">
              <a:latin typeface="Agency FB" panose="020B0503020202020204" pitchFamily="34" charset="0"/>
            </a:endParaRPr>
          </a:p>
          <a:p>
            <a:pPr>
              <a:buFont typeface="+mj-lt"/>
              <a:buAutoNum type="arabicPeriod"/>
            </a:pPr>
            <a:r>
              <a:rPr lang="en-IN" sz="2000" b="1">
                <a:latin typeface="Agency FB" panose="020B0503020202020204" pitchFamily="34" charset="0"/>
              </a:rPr>
              <a:t>Focus on High-Performing Locations</a:t>
            </a:r>
            <a:endParaRPr lang="en-IN" sz="2000">
              <a:latin typeface="Agency FB" panose="020B0503020202020204" pitchFamily="34" charset="0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IN" sz="2000">
                <a:latin typeface="Agency FB" panose="020B0503020202020204" pitchFamily="34" charset="0"/>
              </a:rPr>
              <a:t>Invest more in marketing and inventory for Downtown and Commercial area stores to maximize revenue potential.</a:t>
            </a:r>
          </a:p>
          <a:p>
            <a:pPr>
              <a:buFont typeface="+mj-lt"/>
              <a:buAutoNum type="arabicPeriod"/>
            </a:pPr>
            <a:r>
              <a:rPr lang="en-IN" sz="2000" b="1">
                <a:latin typeface="Agency FB" panose="020B0503020202020204" pitchFamily="34" charset="0"/>
              </a:rPr>
              <a:t>Reevaluate Low-Performing Stores</a:t>
            </a:r>
            <a:endParaRPr lang="en-IN" sz="2000">
              <a:latin typeface="Agency FB" panose="020B0503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err="1">
                <a:latin typeface="Agency FB" panose="020B0503020202020204" pitchFamily="34" charset="0"/>
              </a:rPr>
              <a:t>Analyze</a:t>
            </a:r>
            <a:r>
              <a:rPr lang="en-IN" sz="2000">
                <a:latin typeface="Agency FB" panose="020B0503020202020204" pitchFamily="34" charset="0"/>
              </a:rPr>
              <a:t> reasons behind low sales in Residential and Airport areas; consider targeted promotions or store restructuring.</a:t>
            </a:r>
          </a:p>
          <a:p>
            <a:pPr>
              <a:buFont typeface="+mj-lt"/>
              <a:buAutoNum type="arabicPeriod"/>
            </a:pPr>
            <a:r>
              <a:rPr lang="en-IN" sz="2000" b="1">
                <a:latin typeface="Agency FB" panose="020B0503020202020204" pitchFamily="34" charset="0"/>
              </a:rPr>
              <a:t>Optimize Inventory Management</a:t>
            </a:r>
            <a:endParaRPr lang="en-IN" sz="2000">
              <a:latin typeface="Agency FB" panose="020B0503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>
                <a:latin typeface="Agency FB" panose="020B0503020202020204" pitchFamily="34" charset="0"/>
              </a:rPr>
              <a:t>Use demand forecasting and real-time tracking to balance stock levels and reduce overstock or shortages.</a:t>
            </a:r>
          </a:p>
          <a:p>
            <a:pPr>
              <a:buFont typeface="+mj-lt"/>
              <a:buAutoNum type="arabicPeriod"/>
            </a:pPr>
            <a:r>
              <a:rPr lang="en-IN" sz="2000" b="1">
                <a:latin typeface="Agency FB" panose="020B0503020202020204" pitchFamily="34" charset="0"/>
              </a:rPr>
              <a:t>Expand Top-Selling Product Categories</a:t>
            </a:r>
            <a:endParaRPr lang="en-IN" sz="2000">
              <a:latin typeface="Agency FB" panose="020B0503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>
                <a:latin typeface="Agency FB" panose="020B0503020202020204" pitchFamily="34" charset="0"/>
              </a:rPr>
              <a:t>Increase production and visibility of high-demand toys and trending product lines.</a:t>
            </a:r>
          </a:p>
          <a:p>
            <a:pPr>
              <a:buFont typeface="+mj-lt"/>
              <a:buAutoNum type="arabicPeriod"/>
            </a:pPr>
            <a:r>
              <a:rPr lang="en-IN" sz="2000" b="1">
                <a:latin typeface="Agency FB" panose="020B0503020202020204" pitchFamily="34" charset="0"/>
              </a:rPr>
              <a:t>Seasonal Campaign Planning</a:t>
            </a:r>
            <a:endParaRPr lang="en-IN" sz="2000">
              <a:latin typeface="Agency FB" panose="020B0503020202020204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>
                <a:latin typeface="Agency FB" panose="020B0503020202020204" pitchFamily="34" charset="0"/>
              </a:rPr>
              <a:t>Launch promotional offers during peak months (March–April, December) to leverage high demand.</a:t>
            </a:r>
          </a:p>
        </p:txBody>
      </p:sp>
    </p:spTree>
    <p:extLst>
      <p:ext uri="{BB962C8B-B14F-4D97-AF65-F5344CB8AC3E}">
        <p14:creationId xmlns:p14="http://schemas.microsoft.com/office/powerpoint/2010/main" val="3757882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A5AFB369-4673-4727-A7CD-D86AFE0AE0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50709826-4D6B-4A97-8DB3-5DA1666262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7263F58-6EE6-45B3-9BF2-C0BD5D30A5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197CE03-EB81-4718-BEA1-C2D488961E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A3451629-72D6-4E33-A99A-40FAF7445D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E04F0FD4-BCD5-4435-A6B5-A2E69303B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DE110F09-1C81-4E73-B5E9-D857CD879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273A9C01-06BD-4E8E-8BBF-2E2A9ECF4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B206C9B2-27BE-4B6F-A4D0-485FBBEB5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2E7D673E-0C5C-4F2B-B46E-3E9286B9E8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0F78B34-9B26-4CA9-B8F0-B9638730F9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pic>
        <p:nvPicPr>
          <p:cNvPr id="3" name="Picture 2" descr="A group of toys on a wooden floor&#10;&#10;AI-generated content may be incorrect.">
            <a:extLst>
              <a:ext uri="{FF2B5EF4-FFF2-40B4-BE49-F238E27FC236}">
                <a16:creationId xmlns:a16="http://schemas.microsoft.com/office/drawing/2014/main" id="{7AF084E5-D3FD-D47D-90C8-D7EAEA8723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12" r="24443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A8F719-6CE0-3246-8AD9-56A1A88D66CE}"/>
              </a:ext>
            </a:extLst>
          </p:cNvPr>
          <p:cNvSpPr txBox="1"/>
          <p:nvPr/>
        </p:nvSpPr>
        <p:spPr>
          <a:xfrm>
            <a:off x="5380563" y="1678665"/>
            <a:ext cx="3887839" cy="23721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spcBef>
                <a:spcPct val="0"/>
              </a:spcBef>
              <a:spcAft>
                <a:spcPts val="600"/>
              </a:spcAft>
            </a:pPr>
            <a:r>
              <a:rPr lang="en-US" sz="540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94319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Application>Microsoft Office PowerPoint</Application>
  <PresentationFormat>Widescreen</PresentationFormat>
  <Slides>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vaishnavi raut</dc:creator>
  <cp:revision>29</cp:revision>
  <dcterms:created xsi:type="dcterms:W3CDTF">2025-11-06T16:15:26Z</dcterms:created>
  <dcterms:modified xsi:type="dcterms:W3CDTF">2025-11-07T05:24:38Z</dcterms:modified>
</cp:coreProperties>
</file>